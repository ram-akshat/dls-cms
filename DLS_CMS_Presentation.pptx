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8" r:id="rId13"/>
    <p:sldId id="264" r:id="rId14"/>
    <p:sldId id="265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paper and authors. Mention this is about sliding-window frequency estimation using a novel data structure called DLS-CMS, which stands for Decayed Lazy Sparse Count-Min Sketch.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problem matters: network operators, recommendation engines, and cache systems all need recent-window counts, not lifetime totals. Standard CMS accumulates all insertions forever — it has no mechanism to forget old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CMS architecture briefly. The key limitation is that CMS counters are monotonically non-decreasing — insertions only add, never subtract. This makes windowed queries impossible without auxiliary structures.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two-step evolution: DA-CMS was the theoretical contribution, DLS-CMS is the practical realization. The key insight is that we can defer the decay computation until a bucket is actually touched, making per-event cost O(d) instead of O(dw).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architecture. Two sparse sketches: CMS+ for insertions, CMS- for deletions. Each sketch uses sparse hashmaps (not dense arrays). Lazy decay means the decay multiplier is applied only when a bucket is actually touched. Pruning deletes very small entries to save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algorithms. Insert and Delete are mirror images — only the target sketch differs. Emphasize that lazy decay means the exponential multiplier λ^(t-ts) is computed ONLY for the bucket being accessed, not for the whole matrix. This is the core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mathematical result: the error is bounded relative to F = 1/(1-λ), the effective window weight, NOT the total stream length M. This is what allows DLS-CMS to have fixed space even on very long streams. The proof reuses the standard CMS analysis with F in place of ||f||₁.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experiments compared 7 algorithms at ε=δ=0.01. DLS-CMS achieves the smallest memory footprint of all methods — 1.17 KB — due to sparse storage and aggressive pruning. The 109× speedup over SD-CMS is entirely due to lazy vs eager decay.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key contributions of DLS-CMS. The take-home message: DLS-CMS is the first method to simultaneously achieve standard CMS space, windowed accuracy, deletion support, and smooth decay — validated both theoretically and empirically.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key comparison slide. Point out that no prior method has all four properties — windowed accuracy, deletion support, no hard-reset artifacts — at O(1/ε log 1/δ) space. DLS-CMS is unique in achieving all four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key contributions of DLS-CMS. The take-home message: DLS-CMS is the first method to simultaneously achieve standard CMS space, windowed accuracy, deletion support, and smooth decay — validated both theoretically and empirically.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key contributions of DLS-CMS. The take-home message: DLS-CMS is the first method to simultaneously achieve standard CMS space, windowed accuracy, deletion support, and smooth decay — validated both theoretically and empirically.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SPACE-EFFICIENT SLIDING WINDOW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kern="0" spc="1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FREQUENCY ESTIMATION VIA DLS-CMS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400300"/>
            <a:ext cx="694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Decayed Lazy Sparse Count-Min Sketch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5486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Harsh Patil (BT24CSD033)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Sutikshan Upman (BT24CSD043)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Akshat Pareek (BT24CSD041)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lv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0"/>
              </a:rPr>
              <a:t>PROBLEM STATEMENT &amp; MOTIVATION</a:t>
            </a:r>
            <a:endParaRPr lang="en-US" sz="2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5940" y="155575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7380" y="169291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Streams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8820" y="2150110"/>
            <a:ext cx="2194560" cy="3657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95" y="2287270"/>
            <a:ext cx="2340610" cy="1221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Continuous, unbounded data flows from networks, IoT sensors, e-commerce. Must be processed in a single pass with limited memory.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33420" y="155575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24860" y="169291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Frequency Estimation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16300" y="2150110"/>
            <a:ext cx="2194560" cy="3657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3275" y="2287270"/>
            <a:ext cx="2340610" cy="12528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Count how often item x appears. Exact counting is infeasible at scale. Probabilistic sketches like CMS provide approximate counts efficiently.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30900" y="155575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22340" y="169291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Sliding Window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13780" y="2150110"/>
            <a:ext cx="2194560" cy="3657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40755" y="2287270"/>
            <a:ext cx="2340610" cy="12223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Applications care about RECENT data only (last N elements). Standard CMS never forgets — old counts accumulate forever.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6620" y="4343400"/>
            <a:ext cx="7371715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2020" y="4370705"/>
            <a:ext cx="7322185" cy="4025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Key Question: How can we efficiently forget old data while maintaining accurate frequency estimates at standard CMS memory cost?</a:t>
            </a:r>
            <a:endParaRPr lang="en-US" sz="1100" b="1" dirty="0">
              <a:solidFill>
                <a:srgbClr val="FFFFFF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BACKGROUND: COUNT-MIN SKETCH &amp; LIMITATIONS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3425" y="1157605"/>
            <a:ext cx="30727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Count-Min Sketch (CMS)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55420"/>
            <a:ext cx="3931285" cy="1733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Maintains a d × w counter matrix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Each row uses a distinct hash function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Insert(x): increment d counters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Query(x): return minimum counter across all rows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Space: O(1/ε · log(1/δ))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Guarantee: f̂(x) ≤ f(x) + ε·||f||₁  w.p. ≥ 1−δ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3425" y="3272790"/>
            <a:ext cx="621792" cy="237744"/>
          </a:xfrm>
          <a:prstGeom prst="rect">
            <a:avLst/>
          </a:prstGeom>
          <a:solidFill>
            <a:srgbClr val="006D77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3505" y="3272790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3585" y="3272790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3665" y="3272790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3745" y="3272790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425" y="3528822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3505" y="3528822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3585" y="3528822"/>
            <a:ext cx="621792" cy="237744"/>
          </a:xfrm>
          <a:prstGeom prst="rect">
            <a:avLst/>
          </a:prstGeom>
          <a:solidFill>
            <a:srgbClr val="2D2D2D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3665" y="3528822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3745" y="3528822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425" y="3784854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3505" y="3784854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3585" y="3784854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3665" y="3784854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3745" y="3784854"/>
            <a:ext cx="6217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425" y="4040251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d×w counter grid  (values only increase)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157605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Critical Limitations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4754880" y="1523365"/>
          <a:ext cx="393192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Limitation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Impact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Counters only increment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Cannot remove old data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No expiry mechanism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Old items stay forever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Error grows with ||f||₁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Degrades on long streams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No deletion support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Can't handle flow expiry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Hard-reset workarounds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Spike artifacts at boundaries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FROM DA-CMS TO DLS-CMS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DA-CMS (Foundation)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6576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Multiply all counters by λ ∈ (0,1) before each insert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Older items naturally fade — soft sliding window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Total weight bounded: F = 1/(1−λ)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Sketch sized to F, not total stream length 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 hard-reset spikes at window boundaries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0540" y="2295525"/>
            <a:ext cx="4572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3735" y="1648691"/>
            <a:ext cx="544830" cy="8995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D2D2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▶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892040" y="905510"/>
            <a:ext cx="3840480" cy="2926080"/>
          </a:xfrm>
          <a:prstGeom prst="rect">
            <a:avLst/>
          </a:prstGeom>
          <a:solidFill>
            <a:srgbClr val="E0F4F6"/>
          </a:solidFill>
          <a:ln w="19050">
            <a:solidFill>
              <a:srgbClr val="006D77"/>
            </a:solidFill>
            <a:prstDash val="solid"/>
          </a:ln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D7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DLS-CMS (Proposed)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361188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Fixes DA-CMS engineering limitations: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Eager global decay costs O(dw) per insert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 deletion support in DA-CMS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DLS-CMS solution: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Lazy decay — apply only to accessed buckets → O(d)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Two sparse sketches (CMS+ / CMS−) for deletions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Pruning threshold τ = εF/2 removes near-zero entries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931920"/>
            <a:ext cx="8321040" cy="4114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59352"/>
            <a:ext cx="8138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DLS-CMS retains the same O(1/ε · log(1/δ)) space guarantee as DA-CMS, with O(d) per-event cost instead of O(dw)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DLS-CMS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11880" y="777240"/>
            <a:ext cx="1920240" cy="475488"/>
          </a:xfrm>
          <a:prstGeom prst="rect">
            <a:avLst/>
          </a:prstGeom>
          <a:solidFill>
            <a:srgbClr val="2D2D2D"/>
          </a:solidFill>
          <a:ln w="10160">
            <a:solidFill>
              <a:srgbClr val="3D3D3D"/>
            </a:solidFill>
            <a:prstDash val="solid"/>
          </a:ln>
          <a:effectLst>
            <a:outerShdw blurRad="38100" dist="127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48456" y="813816"/>
            <a:ext cx="18470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Incoming Event (x, Δ, 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26280" y="1298448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3D3D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508760"/>
            <a:ext cx="1920240" cy="475488"/>
          </a:xfrm>
          <a:prstGeom prst="rect">
            <a:avLst/>
          </a:prstGeom>
          <a:solidFill>
            <a:srgbClr val="DDDDDD"/>
          </a:solidFill>
          <a:ln w="10160">
            <a:solidFill>
              <a:srgbClr val="3D3D3D"/>
            </a:solidFill>
            <a:prstDash val="solid"/>
          </a:ln>
          <a:effectLst>
            <a:outerShdw blurRad="38100" dist="127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48456" y="1545336"/>
            <a:ext cx="18470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Route: Δ&gt;0 → CMS+   Δ&lt;0 → CMS−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26280" y="2029968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3D3D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286000"/>
            <a:ext cx="3017520" cy="475488"/>
          </a:xfrm>
          <a:prstGeom prst="rect">
            <a:avLst/>
          </a:prstGeom>
          <a:solidFill>
            <a:srgbClr val="006D77"/>
          </a:solidFill>
          <a:ln w="10160">
            <a:solidFill>
              <a:srgbClr val="3D3D3D"/>
            </a:solidFill>
            <a:prstDash val="solid"/>
          </a:ln>
          <a:effectLst>
            <a:outerShdw blurRad="38100" dist="127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42416" y="2322576"/>
            <a:ext cx="29443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CMS+ (Insertion Sketch)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286000"/>
            <a:ext cx="3017520" cy="475488"/>
          </a:xfrm>
          <a:prstGeom prst="rect">
            <a:avLst/>
          </a:prstGeom>
          <a:solidFill>
            <a:srgbClr val="555555"/>
          </a:solidFill>
          <a:ln w="10160">
            <a:solidFill>
              <a:srgbClr val="3D3D3D"/>
            </a:solidFill>
            <a:prstDash val="solid"/>
          </a:ln>
          <a:effectLst>
            <a:outerShdw blurRad="38100" dist="127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57216" y="2322576"/>
            <a:ext cx="29443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CMS− (Deletion Sketch)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2834640"/>
            <a:ext cx="3017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889504"/>
            <a:ext cx="292608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 sparse hash maps (row → bucket)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Each bucket: (value, last_access_time)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Lazy decay: v ← v · λ^(t−ts)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Prune if v &lt; τ = εF/2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2834640"/>
            <a:ext cx="3017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889504"/>
            <a:ext cx="292608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Identical structure to CMS+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Tracks negative (delete) events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Same lazy decay + pruning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Absent bucket = implicit zero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0" y="3977640"/>
            <a:ext cx="3657600" cy="502920"/>
          </a:xfrm>
          <a:prstGeom prst="rect">
            <a:avLst/>
          </a:prstGeom>
          <a:solidFill>
            <a:srgbClr val="2D2D2D"/>
          </a:solidFill>
          <a:ln w="10160">
            <a:solidFill>
              <a:srgbClr val="3D3D3D"/>
            </a:solidFill>
            <a:prstDash val="solid"/>
          </a:ln>
          <a:effectLst>
            <a:outerShdw blurRad="38100" dist="127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79776" y="4014216"/>
            <a:ext cx="358444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Query: f̂(x) = max(0, min_i(v⁺ᵢ − v⁻ᵢ))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 d = ⌈ln(1/δ)⌉   w = ⌈e/ε⌉   λ ∈ (0,1)   F = 1/(1−λ)   τ = εF/2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ALGORITHM WORKING IN DETAIL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04672"/>
            <a:ext cx="2743200" cy="34747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841248"/>
            <a:ext cx="26334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DLS-INSERT(x, Δ, 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2560320" cy="1810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= 0 to d−1: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← hᵢ(x) mod w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j ∈ CMS+[i]: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v,ts ← CMS+[i][j]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← v · λ^(t−ts)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v ← 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← v + 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v &lt; τ: del CMS+[i][j]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CMS+[i][j] ← (v,t)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O(d)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2743200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841248"/>
            <a:ext cx="26334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DLS-DELETE(x, Δ, 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207008"/>
            <a:ext cx="2560320" cy="1810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= 0 to d−1: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← hᵢ(x) mod w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j ∈ CMS−[i]: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v,ts ← CMS−[i][j]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← v · λ^(t−ts)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v ← 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← v + 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v &lt; τ: del CMS−[i][j]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CMS−[i][j] ← (v,t)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O(d)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04672"/>
            <a:ext cx="2743200" cy="3474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841248"/>
            <a:ext cx="26334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DLS-QUERY(x, 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207008"/>
            <a:ext cx="2560320" cy="1810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= 0 to d−1: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v⁺ᵢ ← decayed(CMS+[i],t)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v⁻ᵢ ← decayed(CMS−[i],t)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estᵢ ← v⁺ᵢ − v⁻ᵢ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max(0, minᵢ(estᵢ))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decayed(bucket,t):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bucket exists: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 · λ^(t−ts)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return 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05915" y="3310255"/>
            <a:ext cx="5932170" cy="12217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8795" y="3441573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Efficiency Insight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43075" y="3657600"/>
            <a:ext cx="5532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Lazy decay: 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Decay is applied only to the d touched buckets, not all d×w counters.
</a:t>
            </a:r>
            <a:r>
              <a:rPr lang="en-US" sz="1150" b="1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Eager (DA-CMS): 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O(dw) per event  ≈  1360 float multiplications for ε=0.01, d=5
</a:t>
            </a:r>
            <a:r>
              <a:rPr lang="en-US" sz="1150" b="1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Lazy (DLS-CMS): 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O(d) per event  →  109× speedup over SD-CMS in experiments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MATHEMATICAL FORMULATION &amp; GUARANTEES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Definitions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388620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Stream: {(x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, Δ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, t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)}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s=1-&gt;m 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(Δ can be ±)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Decayed frequency at time 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 f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λ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(x,t) = Σ Δ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·λ^(t−t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)  for x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s=x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, Δ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s&gt;0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           − Σ|Δ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|·λ^(t−t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) for x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s=x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, Δ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s&lt;0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Total weight converges: Σₓ f</a:t>
            </a:r>
            <a:r>
              <a:rPr lang="en-US" sz="1150" baseline="-25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λ</a:t>
            </a: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(x,t) ≤ 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Effective window: F = 1/(1−λ)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Pruning threshold: τ = εF/2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Max active entries / row: ≤ 2/ε  (pruning lemma)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4114800" cy="1188720"/>
          </a:xfrm>
          <a:prstGeom prst="rect">
            <a:avLst/>
          </a:prstGeom>
          <a:solidFill>
            <a:srgbClr val="E0F4F6"/>
          </a:solidFill>
          <a:ln w="1905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98755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7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Error Bound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334770"/>
            <a:ext cx="3931920" cy="7131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Pr[ f̂(x,t) − fλ(x,t) &gt; ε·F ] ≤ 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w = ⌈e/ε⌉  and  d = ⌈ln(1/δ)⌉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2402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231343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Space Bound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651760"/>
            <a:ext cx="3931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DLS-CMS uses  O(1/ε · log(1/δ))  space.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Pruning lemma: ≤ 2/ε active entries per row;</a:t>
            </a:r>
            <a:endParaRPr lang="en-US" sz="1100" dirty="0">
              <a:solidFill>
                <a:srgbClr val="3D3D3D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  <a:p>
            <a:pPr marL="0" indent="0">
              <a:buNone/>
            </a:pPr>
            <a:r>
              <a:rPr lang="en-US" sz="1100" dirty="0"/>
              <a:t>DLS-CMS keeps only active buckets 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521075"/>
            <a:ext cx="4114800" cy="84836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637915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Proof Sketch (Error Bound)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930523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Standard CMS Markov+union-bound applies with ||f||₁ replaced by F (geometric series). Each row overestimates by at most εF in expectation. Min over d rows gives failure prob ≤ (e/w)^d ≤ δ.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EXPERIMENTAL SETUP &amp; RESULTS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017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743200" cy="2148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Synthetic uniform-distribution stream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Stream length M = 10,000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Vocabulary size = 15 words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ε = 0.01,  δ = 0.01,  λ = 0.95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Python 3, NumPy, time.time()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7 algorithms compared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520440" y="914400"/>
          <a:ext cx="521208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Algorithm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Space (KB)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vs DLS-CMS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Count-Min Sketch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5.31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4.5×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Count Sketch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585.94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500.8×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Hokusai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21.25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18.2×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λ-HCount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5.84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5.0×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FDCMSS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42.50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36.3×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SD-CMS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106.21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90.8×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DLS-CMS 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1.17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1.0×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749040"/>
            <a:ext cx="4206240" cy="1051560"/>
          </a:xfrm>
          <a:prstGeom prst="rect">
            <a:avLst/>
          </a:prstGeom>
          <a:solidFill>
            <a:srgbClr val="E0F4F6"/>
          </a:solidFill>
          <a:ln w="15240">
            <a:solidFill>
              <a:srgbClr val="006D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82219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D7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DLS-CMS Space: 1.17 KB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420624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vs CMS: 5.31 KB  (4.5× reduction)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0" y="3749040"/>
            <a:ext cx="397764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D2D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3822192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DLS-CMS Time: 0.0465 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92040" y="42062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vs CMS:0.0365s  (just 1.27x slower)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81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RESULTS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57800" y="1371600"/>
            <a:ext cx="338328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22" name="Picture 21" descr="plot1_bar_spa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" y="1076325"/>
            <a:ext cx="3996690" cy="2764155"/>
          </a:xfrm>
          <a:prstGeom prst="rect">
            <a:avLst/>
          </a:prstGeom>
        </p:spPr>
      </p:pic>
      <p:pic>
        <p:nvPicPr>
          <p:cNvPr id="23" name="Picture 22" descr="plot2_line_space_vs_epsil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75" y="1075690"/>
            <a:ext cx="4607560" cy="2764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COMPARISON WITH PRIOR WORK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65760" y="914400"/>
          <a:ext cx="7406640" cy="36576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1097280"/>
                <a:gridCol w="1097280"/>
                <a:gridCol w="1097280"/>
              </a:tblGrid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Method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Space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Window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Deletion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No Spikes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CMS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O(1/ε log 1/δ)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Count Sketch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O(1/ε² log 1/δ)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Hokusai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O(1/ε log N log 1/δ)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ECM-Sketches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O(1/ε² log N log 1/δ)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Simple Reset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O(1/ε log 1/δ)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≈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Prop. Decay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O(1/ε log 1/δ)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≈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✗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partial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SD-CMS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O(1/ε log 1/δ)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DLS-CMS ★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O(1/ε log 1/δ)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✓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90872"/>
            <a:ext cx="8229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DLS-CMS is the ONLY method achieving all four properties simultaneously at standard CMS asymptotic cost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5899" y="759056"/>
            <a:ext cx="7548880" cy="2497224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2923540" y="997585"/>
            <a:ext cx="3297555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Contributions of DLS-CMS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427480"/>
            <a:ext cx="1628140" cy="384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🔹 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427480"/>
            <a:ext cx="5199379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Only 1.17 KB at ε=δ=0.01 — lowest of all 7 tested methods; 4.5× less than CMS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8760" y="1884680"/>
            <a:ext cx="1628140" cy="384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🔹 Speed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884680"/>
            <a:ext cx="5476240" cy="4025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O(d) per event via lazy decay → Doesn’t sacrifice much on speed over CMS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2323465"/>
            <a:ext cx="1824990" cy="384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323465"/>
            <a:ext cx="4688840" cy="4025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85900" y="1929639"/>
            <a:ext cx="1826260" cy="12529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🔹 Deletion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213484"/>
            <a:ext cx="4835236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Dual-sketch (CMS+ / CMS−) enables first-class deletion without extra space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85900" y="2341246"/>
            <a:ext cx="1328420" cy="12992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🔹 Smooth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341246"/>
            <a:ext cx="4389120" cy="1317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Exponential decay eliminates hard-reset spikes at window boundaries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58365" y="3769359"/>
            <a:ext cx="4663440" cy="1068705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95525" y="3690938"/>
            <a:ext cx="1828800" cy="75006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95525" y="4362577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Real network traces (CAIDA) · Bursty-stream pruning · P4 programmable switch implementation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371600"/>
            <a:ext cx="338328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-3200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3840480"/>
            <a:ext cx="2011680" cy="20116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20440"/>
            <a:ext cx="2286000" cy="2286000"/>
          </a:xfrm>
          <a:prstGeom prst="ellipse">
            <a:avLst/>
          </a:prstGeom>
          <a:ln w="3175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5645" y="860425"/>
            <a:ext cx="7548880" cy="37566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3540" y="997585"/>
            <a:ext cx="3297555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371600"/>
            <a:ext cx="338328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8"/>
          <p:cNvSpPr/>
          <p:nvPr/>
        </p:nvSpPr>
        <p:spPr>
          <a:xfrm>
            <a:off x="991870" y="1094105"/>
            <a:ext cx="6994525" cy="32658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[1] Cormode &amp; Muthukrishnan, Count-Min Sketch, J. Algorithms 2005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[2] Datar et al., Exponential Histogram, SIAM J. Comp. 2002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[3] Papapetrou et al., ECM-Sketches, VLDB 2012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[4] Matusevych et al., Hokusai, UAI 2012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[5] Shrivastava et al., Ada-Sketch, SIGMOD 2016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[6] Rivetti et al., Simple Reset / Prop. Decay, IEEE NCA 2015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[7] Zeng et al., Survey on Sliding Window Sketch, 2023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[9] Yuan et al., UCL-Sketch, arXiv 2024</a:t>
            </a:r>
            <a:endParaRPr lang="en-US" sz="1050" dirty="0">
              <a:solidFill>
                <a:srgbClr val="3D3D3D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sz="1050" dirty="0"/>
              <a:t>[10] S. Sun, J. Zheng, and D. Li, “HEE-Sketch: an efficient sketch for sliding-window frequency es_x0002_timation over skewed data streams,” in IEEE ISPA/BDCloud, 2019.</a:t>
            </a:r>
            <a:endParaRPr lang="en-US" altLang="en-US" sz="1050" dirty="0"/>
          </a:p>
          <a:p>
            <a:pPr marL="0" indent="0">
              <a:buNone/>
            </a:pPr>
            <a:r>
              <a:rPr lang="en-US" altLang="en-US" sz="1050" dirty="0"/>
              <a:t>[11] X. Chen et al., “Fine-grained queue mea_x0002_surement in the data plane,” in Proc. ACM CoNEXT, pp. 15–29, 2019.</a:t>
            </a:r>
            <a:endParaRPr lang="en-US" altLang="en-US" sz="1050" dirty="0"/>
          </a:p>
          <a:p>
            <a:pPr marL="0" indent="0">
              <a:buNone/>
            </a:pPr>
            <a:r>
              <a:rPr lang="en-US" altLang="en-US" sz="1050" dirty="0"/>
              <a:t>[12] J. Wang, J. Lu, and Z. Su, “SWDAKT: Knowl_x0002_edge tracing using sliding window-based dy_x0002_namic ability perception,” IEEE Access, 2023.</a:t>
            </a:r>
            <a:endParaRPr lang="en-US" altLang="en-US" sz="1050" dirty="0"/>
          </a:p>
          <a:p>
            <a:pPr marL="0" indent="0">
              <a:buNone/>
            </a:pPr>
            <a:r>
              <a:rPr lang="en-US" altLang="en-US" sz="1050" dirty="0"/>
              <a:t>[13] Y. Wang, Y. Wang, and C. Chen, “DPSW_x0002_Sketch: A differentially private sketch frame_x0002_work for sliding windows,” Technical Report, 2023.</a:t>
            </a:r>
            <a:endParaRPr lang="en-US" altLang="en-US" sz="1050" dirty="0"/>
          </a:p>
          <a:p>
            <a:pPr marL="0" indent="0">
              <a:buNone/>
            </a:pPr>
            <a:r>
              <a:rPr lang="en-US" altLang="en-US" sz="1050" dirty="0"/>
              <a:t>[14] S. Nagawanshi et al., “Learning-augmented mo_x0002_ment estimation on time-decay models,” 2026.</a:t>
            </a:r>
            <a:endParaRPr lang="en-US" altLang="en-US" sz="1050" dirty="0"/>
          </a:p>
          <a:p>
            <a:pPr marL="0" indent="0">
              <a:buNone/>
            </a:pPr>
            <a:r>
              <a:rPr lang="en-US" altLang="en-US" sz="1050" dirty="0"/>
              <a:t>[15] Y. Wu et al., “SHE: A generic framework for data stream mining over sliding windows,” ACM TKDD, 2024.</a:t>
            </a:r>
            <a:endParaRPr lang="en-US" alt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6687</Words>
  <Application>WPS Presentation</Application>
  <PresentationFormat>On-screen Show (16:9)</PresentationFormat>
  <Paragraphs>394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SimSun</vt:lpstr>
      <vt:lpstr>Wingdings</vt:lpstr>
      <vt:lpstr>Arial Black</vt:lpstr>
      <vt:lpstr>Arial Black</vt:lpstr>
      <vt:lpstr>Arial Black</vt:lpstr>
      <vt:lpstr>Arial</vt:lpstr>
      <vt:lpstr>Arial</vt:lpstr>
      <vt:lpstr>Consolas</vt:lpstr>
      <vt:lpstr>苹方-简</vt:lpstr>
      <vt:lpstr>Consolas</vt:lpstr>
      <vt:lpstr>Consolas</vt:lpstr>
      <vt:lpstr>Calibri</vt:lpstr>
      <vt:lpstr>Helvetica Neue</vt:lpstr>
      <vt:lpstr>Microsoft YaHei</vt:lpstr>
      <vt:lpstr>汉仪旗黑</vt:lpstr>
      <vt:lpstr>Arial Unicode MS</vt:lpstr>
      <vt:lpstr>宋体-简</vt:lpstr>
      <vt:lpstr>汉仪书宋二KW</vt:lpstr>
      <vt:lpstr>Apple Color Emoji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DLS-CMS: Space-Efficient Sliding Window Frequency Estimation</dc:title>
  <dc:creator>PptxGenJS</dc:creator>
  <dc:subject>PptxGenJS Presentation</dc:subject>
  <cp:lastModifiedBy>Harsh Patil</cp:lastModifiedBy>
  <cp:revision>10</cp:revision>
  <dcterms:created xsi:type="dcterms:W3CDTF">2026-04-30T12:18:27Z</dcterms:created>
  <dcterms:modified xsi:type="dcterms:W3CDTF">2026-04-30T12:18:27Z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B8F148BC74B409235E1EF169D8FCFC76_43</vt:lpwstr>
  </property>
  <property fmtid="{D5CDD505-2E9C-101B-9397-08002B2CF9AE}" pid="3" name="KSOProductBuildVer">
    <vt:lpwstr>1033-12.1.22533.22533</vt:lpwstr>
  </property>
</Properties>
</file>